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8" r:id="rId7"/>
    <p:sldId id="266" r:id="rId8"/>
    <p:sldId id="270" r:id="rId9"/>
    <p:sldId id="264" r:id="rId10"/>
    <p:sldId id="271" r:id="rId11"/>
    <p:sldId id="272" r:id="rId12"/>
  </p:sldIdLst>
  <p:sldSz cx="18288000" cy="10287000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uce" panose="020B0604020202020204" charset="0"/>
      <p:regular r:id="rId17"/>
    </p:embeddedFont>
    <p:embeddedFont>
      <p:font typeface="Open Sauce Bold" panose="020B0604020202020204" charset="0"/>
      <p:regular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587"/>
    <a:srgbClr val="56769D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96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903" y="-13519"/>
            <a:ext cx="18460528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Open Sauce" panose="020B060402020202020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419600" y="1281653"/>
            <a:ext cx="9448800" cy="1342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14"/>
              </a:lnSpc>
            </a:pPr>
            <a:r>
              <a:rPr lang="en-US" sz="54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INDIVIDUAL ADVOCACY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203" y="3253696"/>
            <a:ext cx="13922315" cy="419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IMPROVING CLIENT DATA MANAGEMENT &amp; MEDICAID CLAIM EFFICIENCY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16323" y="8333289"/>
            <a:ext cx="3606898" cy="499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Ju-Lynda Vaughn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AD5804-AC80-9D27-8EAB-0740AA012204}"/>
              </a:ext>
            </a:extLst>
          </p:cNvPr>
          <p:cNvCxnSpPr>
            <a:cxnSpLocks/>
          </p:cNvCxnSpPr>
          <p:nvPr/>
        </p:nvCxnSpPr>
        <p:spPr>
          <a:xfrm>
            <a:off x="2622430" y="2933700"/>
            <a:ext cx="129223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4">
            <a:extLst>
              <a:ext uri="{FF2B5EF4-FFF2-40B4-BE49-F238E27FC236}">
                <a16:creationId xmlns:a16="http://schemas.microsoft.com/office/drawing/2014/main" id="{93D0420A-9FB1-9B39-5561-AACADC5A6CA2}"/>
              </a:ext>
            </a:extLst>
          </p:cNvPr>
          <p:cNvSpPr txBox="1"/>
          <p:nvPr/>
        </p:nvSpPr>
        <p:spPr>
          <a:xfrm>
            <a:off x="2089202" y="3940578"/>
            <a:ext cx="13922315" cy="419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New Access Database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B13CE-83BC-D4A8-35D1-CF1C64FB6CFD}"/>
              </a:ext>
            </a:extLst>
          </p:cNvPr>
          <p:cNvSpPr txBox="1"/>
          <p:nvPr/>
        </p:nvSpPr>
        <p:spPr>
          <a:xfrm>
            <a:off x="6317751" y="8791129"/>
            <a:ext cx="5600160" cy="491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Revenue Cycle / Business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D42DE8A0-B1EE-2119-7AE7-48764F76B3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-838200" y="-266700"/>
            <a:ext cx="19354800" cy="27699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</p:spPr>
        <p:txBody>
          <a:bodyPr lIns="0" tIns="0" rIns="0" bIns="0" rtlCol="0" anchor="t">
            <a:spAutoFit/>
          </a:bodyPr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66399" y="1000646"/>
            <a:ext cx="11101801" cy="1024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44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EXECUTIVE SUMMARY</a:t>
            </a:r>
          </a:p>
        </p:txBody>
      </p:sp>
      <p:sp>
        <p:nvSpPr>
          <p:cNvPr id="4" name="AutoShape 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66399" y="2025222"/>
            <a:ext cx="13538676" cy="1666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4479"/>
              </a:lnSpc>
              <a:defRPr sz="2799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centralized database that unifies client records, case manager activity, and Medicaid billing data reducing errors, </a:t>
            </a:r>
            <a:r>
              <a:rPr lang="en-US" sz="2400" dirty="0"/>
              <a:t>improving access to information, and tracking over $100K in monthly revenue."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A85E4-8B08-33DA-00EE-1B9F7D3E6AD9}"/>
              </a:ext>
            </a:extLst>
          </p:cNvPr>
          <p:cNvSpPr txBox="1"/>
          <p:nvPr/>
        </p:nvSpPr>
        <p:spPr>
          <a:xfrm>
            <a:off x="1853723" y="4046961"/>
            <a:ext cx="86106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THE SYSTEM DELIVERS: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327EB-30F0-A1EA-F7B8-C7FEA5EA867D}"/>
              </a:ext>
            </a:extLst>
          </p:cNvPr>
          <p:cNvSpPr txBox="1"/>
          <p:nvPr/>
        </p:nvSpPr>
        <p:spPr>
          <a:xfrm>
            <a:off x="1676400" y="4658282"/>
            <a:ext cx="7924800" cy="326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ts val="288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source of truth for 400+ clients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visibility into authorizations &amp; unit usage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Faster, more accurate Medicaid billing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TCM-friendly workflows and customized reporting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compliance and service continuity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0A8AA18-54A5-7468-0A0B-8C6E9B33D83F}"/>
              </a:ext>
            </a:extLst>
          </p:cNvPr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E3B71-345D-59E1-5E89-035835CD6C21}"/>
              </a:ext>
            </a:extLst>
          </p:cNvPr>
          <p:cNvSpPr/>
          <p:nvPr/>
        </p:nvSpPr>
        <p:spPr>
          <a:xfrm>
            <a:off x="-57195" y="0"/>
            <a:ext cx="9118600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66399" y="838200"/>
            <a:ext cx="687324" cy="0"/>
          </a:xfrm>
          <a:prstGeom prst="line">
            <a:avLst/>
          </a:prstGeom>
          <a:ln w="762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66399" y="774922"/>
            <a:ext cx="3822789" cy="1044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239EBC-E013-A3D3-5FC6-45DE978684E0}"/>
              </a:ext>
            </a:extLst>
          </p:cNvPr>
          <p:cNvSpPr txBox="1"/>
          <p:nvPr/>
        </p:nvSpPr>
        <p:spPr>
          <a:xfrm>
            <a:off x="1144789" y="4461245"/>
            <a:ext cx="7465809" cy="4926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ts val="288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Average of $5K+ monthly at risk due to various claim issues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400+ client records scattered or incomplete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centralized billing hub for claim status or authorization info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Unknown authorization lapses risking service interruptions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processes created delays and inconsistent data accuracy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ED6271-1C35-F2BA-5CDD-971838019BA4}"/>
              </a:ext>
            </a:extLst>
          </p:cNvPr>
          <p:cNvSpPr txBox="1"/>
          <p:nvPr/>
        </p:nvSpPr>
        <p:spPr>
          <a:xfrm>
            <a:off x="1166399" y="4001619"/>
            <a:ext cx="6375878" cy="443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CHALLENGES</a:t>
            </a:r>
            <a:r>
              <a:rPr lang="en-US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5DC85077-B32E-CCA1-8EF3-715E97586287}"/>
              </a:ext>
            </a:extLst>
          </p:cNvPr>
          <p:cNvSpPr txBox="1"/>
          <p:nvPr/>
        </p:nvSpPr>
        <p:spPr>
          <a:xfrm>
            <a:off x="1166398" y="1819310"/>
            <a:ext cx="7444201" cy="160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4479"/>
              </a:lnSpc>
              <a:defRPr sz="20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Fragmented data caused recurring billing delays, incomplete client records, and preventable revenue loss.</a:t>
            </a: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8E793A74-868D-059D-9B34-DFDCB3B7525E}"/>
              </a:ext>
            </a:extLst>
          </p:cNvPr>
          <p:cNvSpPr/>
          <p:nvPr/>
        </p:nvSpPr>
        <p:spPr>
          <a:xfrm>
            <a:off x="10253204" y="838200"/>
            <a:ext cx="687324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F252B859-101D-2F7E-6CEB-AC169CC66A48}"/>
              </a:ext>
            </a:extLst>
          </p:cNvPr>
          <p:cNvSpPr txBox="1"/>
          <p:nvPr/>
        </p:nvSpPr>
        <p:spPr>
          <a:xfrm>
            <a:off x="10272538" y="774922"/>
            <a:ext cx="3822789" cy="1044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SOLUTION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062281-68DE-E54B-D219-C0E73C068941}"/>
              </a:ext>
            </a:extLst>
          </p:cNvPr>
          <p:cNvSpPr txBox="1"/>
          <p:nvPr/>
        </p:nvSpPr>
        <p:spPr>
          <a:xfrm>
            <a:off x="10305678" y="4001619"/>
            <a:ext cx="6375878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CHALLENGES</a:t>
            </a: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E39E1532-47A3-5C66-1BBE-96F74895A64D}"/>
              </a:ext>
            </a:extLst>
          </p:cNvPr>
          <p:cNvSpPr txBox="1"/>
          <p:nvPr/>
        </p:nvSpPr>
        <p:spPr>
          <a:xfrm>
            <a:off x="10305678" y="1825565"/>
            <a:ext cx="7010728" cy="160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4479"/>
              </a:lnSpc>
              <a:defRPr sz="20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unified Client &amp; Medicaid Billing Database that streamlines billing, improves data accuracy, and supports day-to-day TCM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D6E85-1E24-110F-8AB8-42965C2D8767}"/>
              </a:ext>
            </a:extLst>
          </p:cNvPr>
          <p:cNvSpPr txBox="1"/>
          <p:nvPr/>
        </p:nvSpPr>
        <p:spPr>
          <a:xfrm>
            <a:off x="10272538" y="4471481"/>
            <a:ext cx="7043868" cy="4372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ts val="288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Centralized data access for clients, TCMs, and units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Faster claim tracking across all months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authorization visibility to prevent lapses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Accurate monthly billing + cross-checks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 reports for management and case managers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7B2729-30B0-689D-69E4-9457F45286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49766" y="1028700"/>
            <a:ext cx="7445029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 b="1"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DATABASE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9766" y="2093320"/>
            <a:ext cx="14368876" cy="510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4479"/>
              </a:lnSpc>
              <a:defRPr sz="20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Designed for stability, separation of duties, and future scalability.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D53BE99B-32BC-B599-6F49-35B7DE8F813B}"/>
              </a:ext>
            </a:extLst>
          </p:cNvPr>
          <p:cNvGrpSpPr/>
          <p:nvPr/>
        </p:nvGrpSpPr>
        <p:grpSpPr>
          <a:xfrm>
            <a:off x="1203406" y="3786922"/>
            <a:ext cx="4462541" cy="4718913"/>
            <a:chOff x="0" y="0"/>
            <a:chExt cx="2955394" cy="421506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EB81000-BC70-F1D5-F740-6391F4B78772}"/>
                </a:ext>
              </a:extLst>
            </p:cNvPr>
            <p:cNvSpPr/>
            <p:nvPr/>
          </p:nvSpPr>
          <p:spPr>
            <a:xfrm>
              <a:off x="0" y="0"/>
              <a:ext cx="2955394" cy="4215063"/>
            </a:xfrm>
            <a:custGeom>
              <a:avLst/>
              <a:gdLst/>
              <a:ahLst/>
              <a:cxnLst/>
              <a:rect l="l" t="t" r="r" b="b"/>
              <a:pathLst>
                <a:path w="2955394" h="4215063">
                  <a:moveTo>
                    <a:pt x="34928" y="0"/>
                  </a:moveTo>
                  <a:lnTo>
                    <a:pt x="2920467" y="0"/>
                  </a:lnTo>
                  <a:cubicBezTo>
                    <a:pt x="2939757" y="0"/>
                    <a:pt x="2955394" y="15638"/>
                    <a:pt x="2955394" y="34928"/>
                  </a:cubicBezTo>
                  <a:lnTo>
                    <a:pt x="2955394" y="4180136"/>
                  </a:lnTo>
                  <a:cubicBezTo>
                    <a:pt x="2955394" y="4199425"/>
                    <a:pt x="2939757" y="4215063"/>
                    <a:pt x="2920467" y="4215063"/>
                  </a:cubicBezTo>
                  <a:lnTo>
                    <a:pt x="34928" y="4215063"/>
                  </a:lnTo>
                  <a:cubicBezTo>
                    <a:pt x="15638" y="4215063"/>
                    <a:pt x="0" y="4199425"/>
                    <a:pt x="0" y="4180136"/>
                  </a:cubicBezTo>
                  <a:lnTo>
                    <a:pt x="0" y="34928"/>
                  </a:lnTo>
                  <a:cubicBezTo>
                    <a:pt x="0" y="15638"/>
                    <a:pt x="15638" y="0"/>
                    <a:pt x="3492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6DBE7F52-6CAD-6CBD-4BD6-33B322C128A5}"/>
                </a:ext>
              </a:extLst>
            </p:cNvPr>
            <p:cNvSpPr txBox="1"/>
            <p:nvPr/>
          </p:nvSpPr>
          <p:spPr>
            <a:xfrm>
              <a:off x="0" y="-47625"/>
              <a:ext cx="2955394" cy="4262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3AC8A031-6BDE-6EDE-7FAB-8576B8D4E5BB}"/>
              </a:ext>
            </a:extLst>
          </p:cNvPr>
          <p:cNvGrpSpPr/>
          <p:nvPr/>
        </p:nvGrpSpPr>
        <p:grpSpPr>
          <a:xfrm>
            <a:off x="6912729" y="3798267"/>
            <a:ext cx="4462541" cy="4696224"/>
            <a:chOff x="0" y="0"/>
            <a:chExt cx="2955394" cy="4194797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D0C3522E-D9AA-2BCC-E2A1-A572A8372F4B}"/>
                </a:ext>
              </a:extLst>
            </p:cNvPr>
            <p:cNvSpPr/>
            <p:nvPr/>
          </p:nvSpPr>
          <p:spPr>
            <a:xfrm>
              <a:off x="0" y="0"/>
              <a:ext cx="2955394" cy="4194797"/>
            </a:xfrm>
            <a:custGeom>
              <a:avLst/>
              <a:gdLst/>
              <a:ahLst/>
              <a:cxnLst/>
              <a:rect l="l" t="t" r="r" b="b"/>
              <a:pathLst>
                <a:path w="2955394" h="4194797">
                  <a:moveTo>
                    <a:pt x="34928" y="0"/>
                  </a:moveTo>
                  <a:lnTo>
                    <a:pt x="2920467" y="0"/>
                  </a:lnTo>
                  <a:cubicBezTo>
                    <a:pt x="2939757" y="0"/>
                    <a:pt x="2955394" y="15638"/>
                    <a:pt x="2955394" y="34928"/>
                  </a:cubicBezTo>
                  <a:lnTo>
                    <a:pt x="2955394" y="4159869"/>
                  </a:lnTo>
                  <a:cubicBezTo>
                    <a:pt x="2955394" y="4179159"/>
                    <a:pt x="2939757" y="4194797"/>
                    <a:pt x="2920467" y="4194797"/>
                  </a:cubicBezTo>
                  <a:lnTo>
                    <a:pt x="34928" y="4194797"/>
                  </a:lnTo>
                  <a:cubicBezTo>
                    <a:pt x="15638" y="4194797"/>
                    <a:pt x="0" y="4179159"/>
                    <a:pt x="0" y="4159869"/>
                  </a:cubicBezTo>
                  <a:lnTo>
                    <a:pt x="0" y="34928"/>
                  </a:lnTo>
                  <a:cubicBezTo>
                    <a:pt x="0" y="15638"/>
                    <a:pt x="15638" y="0"/>
                    <a:pt x="3492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98117659-0FDB-1E36-6FC2-B791A0745051}"/>
                </a:ext>
              </a:extLst>
            </p:cNvPr>
            <p:cNvSpPr txBox="1"/>
            <p:nvPr/>
          </p:nvSpPr>
          <p:spPr>
            <a:xfrm>
              <a:off x="0" y="-47625"/>
              <a:ext cx="2955394" cy="4242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" name="Group 10">
            <a:extLst>
              <a:ext uri="{FF2B5EF4-FFF2-40B4-BE49-F238E27FC236}">
                <a16:creationId xmlns:a16="http://schemas.microsoft.com/office/drawing/2014/main" id="{74B8D694-F303-F484-9701-F2C140C11DD4}"/>
              </a:ext>
            </a:extLst>
          </p:cNvPr>
          <p:cNvGrpSpPr/>
          <p:nvPr/>
        </p:nvGrpSpPr>
        <p:grpSpPr>
          <a:xfrm>
            <a:off x="12628876" y="3820956"/>
            <a:ext cx="4492725" cy="4673535"/>
            <a:chOff x="0" y="0"/>
            <a:chExt cx="2918892" cy="4174530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E0FB623-434F-D9B4-D2B9-96812CDA42CB}"/>
                </a:ext>
              </a:extLst>
            </p:cNvPr>
            <p:cNvSpPr/>
            <p:nvPr/>
          </p:nvSpPr>
          <p:spPr>
            <a:xfrm>
              <a:off x="0" y="0"/>
              <a:ext cx="2918892" cy="4174530"/>
            </a:xfrm>
            <a:custGeom>
              <a:avLst/>
              <a:gdLst/>
              <a:ahLst/>
              <a:cxnLst/>
              <a:rect l="l" t="t" r="r" b="b"/>
              <a:pathLst>
                <a:path w="2918892" h="4174530">
                  <a:moveTo>
                    <a:pt x="35365" y="0"/>
                  </a:moveTo>
                  <a:lnTo>
                    <a:pt x="2883527" y="0"/>
                  </a:lnTo>
                  <a:cubicBezTo>
                    <a:pt x="2903058" y="0"/>
                    <a:pt x="2918892" y="15833"/>
                    <a:pt x="2918892" y="35365"/>
                  </a:cubicBezTo>
                  <a:lnTo>
                    <a:pt x="2918892" y="4139166"/>
                  </a:lnTo>
                  <a:cubicBezTo>
                    <a:pt x="2918892" y="4148545"/>
                    <a:pt x="2915166" y="4157540"/>
                    <a:pt x="2908534" y="4164172"/>
                  </a:cubicBezTo>
                  <a:cubicBezTo>
                    <a:pt x="2901902" y="4170804"/>
                    <a:pt x="2892906" y="4174530"/>
                    <a:pt x="2883527" y="4174530"/>
                  </a:cubicBezTo>
                  <a:lnTo>
                    <a:pt x="35365" y="4174530"/>
                  </a:lnTo>
                  <a:cubicBezTo>
                    <a:pt x="15833" y="4174530"/>
                    <a:pt x="0" y="4158697"/>
                    <a:pt x="0" y="4139166"/>
                  </a:cubicBezTo>
                  <a:lnTo>
                    <a:pt x="0" y="35365"/>
                  </a:lnTo>
                  <a:cubicBezTo>
                    <a:pt x="0" y="25985"/>
                    <a:pt x="3726" y="16990"/>
                    <a:pt x="10358" y="10358"/>
                  </a:cubicBezTo>
                  <a:cubicBezTo>
                    <a:pt x="16990" y="3726"/>
                    <a:pt x="25985" y="0"/>
                    <a:pt x="3536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9F8A1007-B4C2-9A97-7105-F4D9147FCCBE}"/>
                </a:ext>
              </a:extLst>
            </p:cNvPr>
            <p:cNvSpPr txBox="1"/>
            <p:nvPr/>
          </p:nvSpPr>
          <p:spPr>
            <a:xfrm>
              <a:off x="0" y="-47625"/>
              <a:ext cx="2918892" cy="4222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1" name="TextBox 17">
            <a:extLst>
              <a:ext uri="{FF2B5EF4-FFF2-40B4-BE49-F238E27FC236}">
                <a16:creationId xmlns:a16="http://schemas.microsoft.com/office/drawing/2014/main" id="{A366E6C0-D445-7BF7-02EB-0D9CAACEB69A}"/>
              </a:ext>
            </a:extLst>
          </p:cNvPr>
          <p:cNvSpPr txBox="1"/>
          <p:nvPr/>
        </p:nvSpPr>
        <p:spPr>
          <a:xfrm>
            <a:off x="1743815" y="5120606"/>
            <a:ext cx="3381720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/>
            <a:r>
              <a:rPr lang="en-US" dirty="0">
                <a:sym typeface="Open Sauce"/>
              </a:rPr>
              <a:t>Tables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6B831F94-A05D-5C90-105A-1DCAD1E8F7E0}"/>
              </a:ext>
            </a:extLst>
          </p:cNvPr>
          <p:cNvSpPr txBox="1"/>
          <p:nvPr/>
        </p:nvSpPr>
        <p:spPr>
          <a:xfrm>
            <a:off x="13664015" y="5110339"/>
            <a:ext cx="2422445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/>
            <a:r>
              <a:rPr lang="en-US" dirty="0">
                <a:sym typeface="Open Sauce"/>
              </a:rPr>
              <a:t>Reports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0E8979CB-2B13-2935-3733-E80ABF9C9192}"/>
              </a:ext>
            </a:extLst>
          </p:cNvPr>
          <p:cNvSpPr txBox="1"/>
          <p:nvPr/>
        </p:nvSpPr>
        <p:spPr>
          <a:xfrm>
            <a:off x="7453138" y="5110339"/>
            <a:ext cx="3381720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/>
            <a:r>
              <a:rPr lang="en-US" dirty="0">
                <a:sym typeface="Open Sauce"/>
              </a:rPr>
              <a:t>Forms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CB70E579-5891-D1E2-8C6D-BE7B03C01F84}"/>
              </a:ext>
            </a:extLst>
          </p:cNvPr>
          <p:cNvSpPr txBox="1"/>
          <p:nvPr/>
        </p:nvSpPr>
        <p:spPr>
          <a:xfrm>
            <a:off x="1982184" y="5949248"/>
            <a:ext cx="2904983" cy="225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Client Master Table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Monthly Billing Tables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Case Manager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Client Information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UHC Clients</a:t>
            </a: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C53D3D39-0FD3-BFB1-ADBF-5809CF6E38C2}"/>
              </a:ext>
            </a:extLst>
          </p:cNvPr>
          <p:cNvSpPr txBox="1"/>
          <p:nvPr/>
        </p:nvSpPr>
        <p:spPr>
          <a:xfrm>
            <a:off x="7694920" y="5947899"/>
            <a:ext cx="2904983" cy="179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>
                <a:solidFill>
                  <a:srgbClr val="000000"/>
                </a:solidFill>
                <a:latin typeface="Open Sauce" panose="020B0604020202020204" charset="0"/>
                <a:ea typeface="Canva Sans"/>
                <a:cs typeface="Canva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Billing Entry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Client Lookup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TCM Tracking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Client/TCM Editing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16C58C66-453A-A195-BF77-B2E1117CE6B2}"/>
              </a:ext>
            </a:extLst>
          </p:cNvPr>
          <p:cNvSpPr txBox="1"/>
          <p:nvPr/>
        </p:nvSpPr>
        <p:spPr>
          <a:xfrm>
            <a:off x="13423878" y="5947899"/>
            <a:ext cx="2904983" cy="179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>
                <a:solidFill>
                  <a:srgbClr val="000000"/>
                </a:solidFill>
                <a:latin typeface="Open Sauce" panose="020B0604020202020204" charset="0"/>
                <a:ea typeface="Canva Sans"/>
                <a:cs typeface="Canva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TCM Client List &amp; Units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 Unit Usage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Authorizations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 Hoc Views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nva Sans"/>
            </a:endParaRPr>
          </a:p>
        </p:txBody>
      </p:sp>
      <p:pic>
        <p:nvPicPr>
          <p:cNvPr id="31" name="Graphic 30" descr="Newspaper with solid fill">
            <a:extLst>
              <a:ext uri="{FF2B5EF4-FFF2-40B4-BE49-F238E27FC236}">
                <a16:creationId xmlns:a16="http://schemas.microsoft.com/office/drawing/2014/main" id="{15F744FE-2293-552A-B4A8-75A50D336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18037" y="3938872"/>
            <a:ext cx="914400" cy="914400"/>
          </a:xfrm>
          <a:prstGeom prst="rect">
            <a:avLst/>
          </a:prstGeom>
        </p:spPr>
      </p:pic>
      <p:pic>
        <p:nvPicPr>
          <p:cNvPr id="34" name="Graphic 33" descr="Table with solid fill">
            <a:extLst>
              <a:ext uri="{FF2B5EF4-FFF2-40B4-BE49-F238E27FC236}">
                <a16:creationId xmlns:a16="http://schemas.microsoft.com/office/drawing/2014/main" id="{79467E31-A92A-3146-54D6-A9891636BB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7475" y="3938872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2FE96346-3196-46E3-3FA2-08324A1F4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624" y="4073303"/>
            <a:ext cx="794749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0361" y="-190500"/>
            <a:ext cx="18466558" cy="1066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61850" y="1002844"/>
            <a:ext cx="10399168" cy="1044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 b="1"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WORKFLOW 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8899" y="2928479"/>
            <a:ext cx="3440951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Open Sauce Bold"/>
              </a:rPr>
              <a:t>MAIN MENU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18899" y="3428171"/>
            <a:ext cx="4510497" cy="919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840"/>
              </a:lnSpc>
              <a:defRPr sz="2000"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Central navigation for all billing months, client views, and reports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97122" y="7040459"/>
            <a:ext cx="3440951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Open Sauce Bold"/>
              </a:rPr>
              <a:t>ENTER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68142" y="7463320"/>
            <a:ext cx="5337235" cy="919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285750" indent="-285750">
              <a:lnSpc>
                <a:spcPts val="3840"/>
              </a:lnSpc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</a:defRPr>
            </a:lvl1pPr>
          </a:lstStyle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Monthly billing entry</a:t>
            </a:r>
          </a:p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Cross-checks prevent unit discrepancies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725647" y="5705196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441253" y="2887757"/>
            <a:ext cx="3440951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Open Sauce Bold"/>
              </a:rPr>
              <a:t>VIEW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19668" y="3283918"/>
            <a:ext cx="6315532" cy="1406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285750" indent="-285750">
              <a:lnSpc>
                <a:spcPts val="3840"/>
              </a:lnSpc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</a:defRPr>
            </a:lvl1pPr>
          </a:lstStyle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TCM-specific views</a:t>
            </a:r>
          </a:p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UHC authorization tracking</a:t>
            </a:r>
          </a:p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Client search and year-at-a-glance summaries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69778" y="3744937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770941" y="7037490"/>
            <a:ext cx="4246824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Open Sauce Bold"/>
              </a:rPr>
              <a:t>REPORTING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54498" y="7485498"/>
            <a:ext cx="5002584" cy="1393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285750" indent="-285750">
              <a:lnSpc>
                <a:spcPts val="3840"/>
              </a:lnSpc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</a:defRPr>
            </a:lvl1pPr>
          </a:lstStyle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Monthly billing output for management</a:t>
            </a:r>
          </a:p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TCM unit usage reports</a:t>
            </a:r>
          </a:p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Overall unit summaries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1399466" y="5702227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F37B-FF2D-003A-2EA7-18B1A12B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BE3928-B322-9A90-A9BD-4469B9B68F59}"/>
              </a:ext>
            </a:extLst>
          </p:cNvPr>
          <p:cNvSpPr/>
          <p:nvPr/>
        </p:nvSpPr>
        <p:spPr>
          <a:xfrm>
            <a:off x="-152400" y="-190500"/>
            <a:ext cx="18466558" cy="1066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F78776B-CDA7-0D5C-B472-A33B116888A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C49787A-BC05-1062-5D2C-CD01C4BEF808}"/>
              </a:ext>
            </a:extLst>
          </p:cNvPr>
          <p:cNvSpPr txBox="1"/>
          <p:nvPr/>
        </p:nvSpPr>
        <p:spPr>
          <a:xfrm>
            <a:off x="1166399" y="994027"/>
            <a:ext cx="10399168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 b="1"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MONTHLY BILLING FORM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43E7A58-566A-B253-C9CF-4DCA46BB5186}"/>
              </a:ext>
            </a:extLst>
          </p:cNvPr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5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8FB8ED7F-EFB8-4462-A689-4B2C4C95C0F3}"/>
              </a:ext>
            </a:extLst>
          </p:cNvPr>
          <p:cNvSpPr txBox="1"/>
          <p:nvPr/>
        </p:nvSpPr>
        <p:spPr>
          <a:xfrm>
            <a:off x="1189145" y="2005329"/>
            <a:ext cx="7116655" cy="10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4479"/>
              </a:lnSpc>
              <a:defRPr sz="20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Ensures accurate billing by combining unit entry, claim information, and built-in validation.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ABE02C-D782-2F66-2816-18980AB02256}"/>
              </a:ext>
            </a:extLst>
          </p:cNvPr>
          <p:cNvSpPr txBox="1"/>
          <p:nvPr/>
        </p:nvSpPr>
        <p:spPr>
          <a:xfrm>
            <a:off x="1006700" y="3695700"/>
            <a:ext cx="6858000" cy="2628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ts val="288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indent="-194310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FEATURES: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 form: TCM unit entry + automatic total calculation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Bottom form: Monthly billing details, claim numbers, and notes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Cross-check logic ensures unit totals match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Conditional formatting: Unpaid claims flagged in 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1754F-B2B6-46C0-4A58-224FD717123D}"/>
              </a:ext>
            </a:extLst>
          </p:cNvPr>
          <p:cNvSpPr txBox="1"/>
          <p:nvPr/>
        </p:nvSpPr>
        <p:spPr>
          <a:xfrm>
            <a:off x="1006700" y="6983827"/>
            <a:ext cx="6760372" cy="1705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194310" lvl="1" indent="0">
              <a:lnSpc>
                <a:spcPts val="2880"/>
              </a:lnSpc>
              <a:buFont typeface="Arial"/>
              <a:buNone/>
              <a:defRPr b="1"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IT MATTERS:</a:t>
            </a:r>
          </a:p>
          <a:p>
            <a:pPr marL="48006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manual errors</a:t>
            </a:r>
          </a:p>
          <a:p>
            <a:pPr marL="48006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Supports real-time claim status tracking</a:t>
            </a:r>
          </a:p>
          <a:p>
            <a:pPr marL="48006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Improves month-end billing accuracy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FB6B73C-1467-AB61-70CA-BC0BEEB72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13912"/>
              </p:ext>
            </p:extLst>
          </p:nvPr>
        </p:nvGraphicFramePr>
        <p:xfrm>
          <a:off x="3048000" y="1079500"/>
          <a:ext cx="1219199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42194712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75954987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91205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4622132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5101281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20534666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813839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86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25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38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6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475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574343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0A08AD1-9F04-4295-B029-9011CC6D3ECA}"/>
              </a:ext>
            </a:extLst>
          </p:cNvPr>
          <p:cNvGrpSpPr/>
          <p:nvPr/>
        </p:nvGrpSpPr>
        <p:grpSpPr>
          <a:xfrm>
            <a:off x="8534400" y="2971822"/>
            <a:ext cx="7772400" cy="5532606"/>
            <a:chOff x="8087855" y="2705100"/>
            <a:chExt cx="7772400" cy="553260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3912C1-C523-42CC-5685-57BF95CF6665}"/>
                </a:ext>
              </a:extLst>
            </p:cNvPr>
            <p:cNvGrpSpPr/>
            <p:nvPr/>
          </p:nvGrpSpPr>
          <p:grpSpPr>
            <a:xfrm>
              <a:off x="8087855" y="2705100"/>
              <a:ext cx="7772400" cy="5532606"/>
              <a:chOff x="8305801" y="2746414"/>
              <a:chExt cx="7772400" cy="5532606"/>
            </a:xfrm>
          </p:grpSpPr>
          <p:pic>
            <p:nvPicPr>
              <p:cNvPr id="18" name="Picture 17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55AF999C-AA8C-4D60-5C02-C76397EFC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16366"/>
              <a:stretch>
                <a:fillRect/>
              </a:stretch>
            </p:blipFill>
            <p:spPr>
              <a:xfrm>
                <a:off x="8305801" y="2746414"/>
                <a:ext cx="7772400" cy="5532606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CC30FE9-49A8-2551-8BB6-9C89220F18ED}"/>
                  </a:ext>
                </a:extLst>
              </p:cNvPr>
              <p:cNvSpPr/>
              <p:nvPr/>
            </p:nvSpPr>
            <p:spPr>
              <a:xfrm>
                <a:off x="8381707" y="3695700"/>
                <a:ext cx="5867400" cy="1752600"/>
              </a:xfrm>
              <a:prstGeom prst="rect">
                <a:avLst/>
              </a:prstGeom>
              <a:solidFill>
                <a:srgbClr val="5676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0A0A46D-2E74-11E4-FEB9-DBF387488EC5}"/>
                  </a:ext>
                </a:extLst>
              </p:cNvPr>
              <p:cNvSpPr/>
              <p:nvPr/>
            </p:nvSpPr>
            <p:spPr>
              <a:xfrm>
                <a:off x="14020800" y="2863771"/>
                <a:ext cx="17526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*Sample form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F5F4D15-E4E3-35C5-86A4-6FE5076467F1}"/>
                  </a:ext>
                </a:extLst>
              </p:cNvPr>
              <p:cNvSpPr/>
              <p:nvPr/>
            </p:nvSpPr>
            <p:spPr>
              <a:xfrm>
                <a:off x="8610600" y="3929987"/>
                <a:ext cx="2362200" cy="2815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Case Manager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Subform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F95AF6-EDD1-9350-8626-6A36C317311A}"/>
                  </a:ext>
                </a:extLst>
              </p:cNvPr>
              <p:cNvSpPr/>
              <p:nvPr/>
            </p:nvSpPr>
            <p:spPr>
              <a:xfrm>
                <a:off x="8610600" y="4445827"/>
                <a:ext cx="2362200" cy="316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TCM 1                        650                                0</a:t>
                </a:r>
              </a:p>
              <a:p>
                <a:r>
                  <a:rPr lang="en-US" sz="900" dirty="0">
                    <a:solidFill>
                      <a:schemeClr val="tx1"/>
                    </a:solidFill>
                  </a:rPr>
                  <a:t>TCM 2                        620                               10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34E537A-3B0B-CF3B-1488-4967DA2B5D5F}"/>
                  </a:ext>
                </a:extLst>
              </p:cNvPr>
              <p:cNvSpPr/>
              <p:nvPr/>
            </p:nvSpPr>
            <p:spPr>
              <a:xfrm>
                <a:off x="8610600" y="4762500"/>
                <a:ext cx="23622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A49842B8-B11A-7272-6D79-B1E17CFB0B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6432"/>
              <a:stretch>
                <a:fillRect/>
              </a:stretch>
            </p:blipFill>
            <p:spPr>
              <a:xfrm>
                <a:off x="8876413" y="5659556"/>
                <a:ext cx="7201787" cy="2586269"/>
              </a:xfrm>
              <a:prstGeom prst="rect">
                <a:avLst/>
              </a:prstGeom>
            </p:spPr>
          </p:pic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B73304-287A-7636-501B-9B288922D29B}"/>
                </a:ext>
              </a:extLst>
            </p:cNvPr>
            <p:cNvSpPr/>
            <p:nvPr/>
          </p:nvSpPr>
          <p:spPr>
            <a:xfrm>
              <a:off x="11298910" y="3942949"/>
              <a:ext cx="1350290" cy="316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TCM Total           1270                              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Billing Total             10                             </a:t>
              </a:r>
            </a:p>
          </p:txBody>
        </p:sp>
        <p:pic>
          <p:nvPicPr>
            <p:cNvPr id="16" name="Graphic 15" descr="Refresh with solid fill">
              <a:extLst>
                <a:ext uri="{FF2B5EF4-FFF2-40B4-BE49-F238E27FC236}">
                  <a16:creationId xmlns:a16="http://schemas.microsoft.com/office/drawing/2014/main" id="{D0024436-D03D-BA41-CE8D-4D5A8ECCF6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801600" y="4014549"/>
              <a:ext cx="209952" cy="209952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4B958D-6FEB-FE67-D885-5F516D13B549}"/>
                </a:ext>
              </a:extLst>
            </p:cNvPr>
            <p:cNvSpPr/>
            <p:nvPr/>
          </p:nvSpPr>
          <p:spPr>
            <a:xfrm>
              <a:off x="13149117" y="3865407"/>
              <a:ext cx="1752600" cy="5391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Cross-check section.  Ensures that TCM unit totals match the manually entered totals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90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F58E-3069-4A58-49AC-8F382710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4D9F45-9D75-CC1A-E0A4-843F6C55BC9C}"/>
              </a:ext>
            </a:extLst>
          </p:cNvPr>
          <p:cNvSpPr/>
          <p:nvPr/>
        </p:nvSpPr>
        <p:spPr>
          <a:xfrm>
            <a:off x="0" y="-228600"/>
            <a:ext cx="18262600" cy="10744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9A4C6E3-776C-C55D-ED26-7707B9D7568B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6C9A7A-46F7-DBE6-E551-3B2ECE1DF7E3}"/>
              </a:ext>
            </a:extLst>
          </p:cNvPr>
          <p:cNvSpPr txBox="1"/>
          <p:nvPr/>
        </p:nvSpPr>
        <p:spPr>
          <a:xfrm>
            <a:off x="1166399" y="1009057"/>
            <a:ext cx="10399168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 b="1"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 &amp; TCM VIEWS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DM Serif Display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4729731-72DD-4A84-A501-D7C9C67EFC02}"/>
              </a:ext>
            </a:extLst>
          </p:cNvPr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B4D86A-ED96-5D42-D305-69F7B8E05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9727" y="2321758"/>
            <a:ext cx="6152134" cy="4841048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91DDC9F-585F-B8A3-C9D3-493EDF42A129}"/>
              </a:ext>
            </a:extLst>
          </p:cNvPr>
          <p:cNvSpPr txBox="1"/>
          <p:nvPr/>
        </p:nvSpPr>
        <p:spPr>
          <a:xfrm>
            <a:off x="1013326" y="7789610"/>
            <a:ext cx="6508535" cy="1797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 algn="l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Core client details for billing</a:t>
            </a:r>
          </a:p>
          <a:p>
            <a:pPr marL="388620" lvl="1" indent="-194310" algn="l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Option of incorporating a client photo</a:t>
            </a:r>
          </a:p>
          <a:p>
            <a:pPr marL="388620" lvl="1" indent="-194310" algn="l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Note section for Care Coordinator/Guardian information</a:t>
            </a:r>
            <a:endParaRPr lang="en-US" sz="2000" u="none" strike="noStrik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18682C9B-1D32-B456-AB35-A85133E457B0}"/>
              </a:ext>
            </a:extLst>
          </p:cNvPr>
          <p:cNvSpPr txBox="1"/>
          <p:nvPr/>
        </p:nvSpPr>
        <p:spPr>
          <a:xfrm>
            <a:off x="9587976" y="7615417"/>
            <a:ext cx="7295027" cy="1335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Option of incorporating a staff photo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Monthly ‘Unit Summary’ for Medicaid and Private Pay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‘TCM Login’: If security levels are needed for access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0984E734-51B3-207E-43D8-DA8C35F31519}"/>
              </a:ext>
            </a:extLst>
          </p:cNvPr>
          <p:cNvSpPr txBox="1"/>
          <p:nvPr/>
        </p:nvSpPr>
        <p:spPr>
          <a:xfrm>
            <a:off x="9880290" y="7241740"/>
            <a:ext cx="4833608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Open Sauce Bold"/>
              </a:rPr>
              <a:t>TCM VIEW: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AC2F58-0C84-1930-EAC0-515FBAE90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1753" y="2321758"/>
            <a:ext cx="6667474" cy="4841048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269BAB5A-4337-375D-1043-BC5112C98A39}"/>
              </a:ext>
            </a:extLst>
          </p:cNvPr>
          <p:cNvSpPr txBox="1"/>
          <p:nvPr/>
        </p:nvSpPr>
        <p:spPr>
          <a:xfrm>
            <a:off x="1235163" y="7253743"/>
            <a:ext cx="4833608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CLIENT VIEW: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EC823-C656-D68D-D327-57F46F8214FD}"/>
              </a:ext>
            </a:extLst>
          </p:cNvPr>
          <p:cNvSpPr/>
          <p:nvPr/>
        </p:nvSpPr>
        <p:spPr>
          <a:xfrm>
            <a:off x="2438400" y="3086100"/>
            <a:ext cx="2133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Client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B1DED-2739-C8FE-BC3D-06575C914CA2}"/>
              </a:ext>
            </a:extLst>
          </p:cNvPr>
          <p:cNvSpPr/>
          <p:nvPr/>
        </p:nvSpPr>
        <p:spPr>
          <a:xfrm>
            <a:off x="12877800" y="3467100"/>
            <a:ext cx="15240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7DEE5A-6E93-7C7E-7BAD-2087080F97FA}"/>
              </a:ext>
            </a:extLst>
          </p:cNvPr>
          <p:cNvSpPr/>
          <p:nvPr/>
        </p:nvSpPr>
        <p:spPr>
          <a:xfrm>
            <a:off x="15396362" y="3467100"/>
            <a:ext cx="834237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43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E8FF-670F-63D5-29CC-27C2FDE9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D311FE-2A93-C51D-07A4-F153DBB8C97D}"/>
              </a:ext>
            </a:extLst>
          </p:cNvPr>
          <p:cNvSpPr/>
          <p:nvPr/>
        </p:nvSpPr>
        <p:spPr>
          <a:xfrm>
            <a:off x="-1" y="-228600"/>
            <a:ext cx="18288001" cy="10744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CA974AF-F35B-34A9-CA96-DD2D6B0218E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A7194A0-0DFF-4CBD-68AC-1E1607188DBA}"/>
              </a:ext>
            </a:extLst>
          </p:cNvPr>
          <p:cNvSpPr txBox="1"/>
          <p:nvPr/>
        </p:nvSpPr>
        <p:spPr>
          <a:xfrm>
            <a:off x="1155624" y="1006522"/>
            <a:ext cx="10399168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 b="1"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REPORTING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25EF054-1AAB-3C3E-D06E-7C4485A5E4AE}"/>
              </a:ext>
            </a:extLst>
          </p:cNvPr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7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19A93ED-A026-51A2-B852-2E87EE8F8376}"/>
              </a:ext>
            </a:extLst>
          </p:cNvPr>
          <p:cNvSpPr txBox="1"/>
          <p:nvPr/>
        </p:nvSpPr>
        <p:spPr>
          <a:xfrm>
            <a:off x="1162388" y="7531809"/>
            <a:ext cx="7768990" cy="2259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ct val="15000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Management-level summary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Displays units granted (PA additional units) and monthly units used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Supports service continuity and audit requirements </a:t>
            </a:r>
          </a:p>
          <a:p>
            <a:pPr lvl="1"/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C5CAE45-DA00-5A04-4D5C-D8EBFF85814F}"/>
              </a:ext>
            </a:extLst>
          </p:cNvPr>
          <p:cNvSpPr txBox="1"/>
          <p:nvPr/>
        </p:nvSpPr>
        <p:spPr>
          <a:xfrm>
            <a:off x="9525000" y="7531809"/>
            <a:ext cx="8077200" cy="1797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ct val="15000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Filtered by TCM using their initials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Shows unit usage across all clients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Includes secondary TCMs if applicable.  This happens when filling in for case manager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D863904-B35A-C02C-7BD4-68EC377D0625}"/>
              </a:ext>
            </a:extLst>
          </p:cNvPr>
          <p:cNvSpPr txBox="1"/>
          <p:nvPr/>
        </p:nvSpPr>
        <p:spPr>
          <a:xfrm>
            <a:off x="9549063" y="6965035"/>
            <a:ext cx="4833608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840"/>
              </a:lnSpc>
              <a:spcBef>
                <a:spcPct val="0"/>
              </a:spcBef>
              <a:defRPr sz="2400" b="1" u="none" strike="noStrike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Open Sauce Bold"/>
              </a:rPr>
              <a:t>TCM UNITS REPORT: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D0D6C44D-36D1-8DA7-4625-BE71070BB4A3}"/>
              </a:ext>
            </a:extLst>
          </p:cNvPr>
          <p:cNvSpPr txBox="1"/>
          <p:nvPr/>
        </p:nvSpPr>
        <p:spPr>
          <a:xfrm>
            <a:off x="1170409" y="6965036"/>
            <a:ext cx="4833608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OVERALL UNITS REPORT:</a:t>
            </a:r>
          </a:p>
        </p:txBody>
      </p:sp>
      <p:pic>
        <p:nvPicPr>
          <p:cNvPr id="8" name="Picture 7" descr="A calendar with numbers and letters&#10;&#10;AI-generated content may be incorrect.">
            <a:extLst>
              <a:ext uri="{FF2B5EF4-FFF2-40B4-BE49-F238E27FC236}">
                <a16:creationId xmlns:a16="http://schemas.microsoft.com/office/drawing/2014/main" id="{1EEDAE98-045B-67BD-DB2C-101291F95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14"/>
          <a:stretch>
            <a:fillRect/>
          </a:stretch>
        </p:blipFill>
        <p:spPr>
          <a:xfrm>
            <a:off x="1162388" y="2491126"/>
            <a:ext cx="7760969" cy="4298562"/>
          </a:xfrm>
          <a:prstGeom prst="rect">
            <a:avLst/>
          </a:prstGeom>
        </p:spPr>
      </p:pic>
      <p:pic>
        <p:nvPicPr>
          <p:cNvPr id="14" name="Picture 13" descr="A calendar with numbers and letters&#10;&#10;AI-generated content may be incorrect.">
            <a:extLst>
              <a:ext uri="{FF2B5EF4-FFF2-40B4-BE49-F238E27FC236}">
                <a16:creationId xmlns:a16="http://schemas.microsoft.com/office/drawing/2014/main" id="{85B4B5B4-6AC1-128F-2EF4-A538FAC4F3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45" b="8299"/>
          <a:stretch>
            <a:fillRect/>
          </a:stretch>
        </p:blipFill>
        <p:spPr>
          <a:xfrm>
            <a:off x="9525000" y="2524163"/>
            <a:ext cx="7921501" cy="42655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F9BAAC-13F6-8F60-7565-DCE8C885552A}"/>
              </a:ext>
            </a:extLst>
          </p:cNvPr>
          <p:cNvSpPr/>
          <p:nvPr/>
        </p:nvSpPr>
        <p:spPr>
          <a:xfrm>
            <a:off x="1170409" y="3924300"/>
            <a:ext cx="7760969" cy="286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CACF7C-30B3-6AE7-AAD7-559CCBBA12B2}"/>
              </a:ext>
            </a:extLst>
          </p:cNvPr>
          <p:cNvSpPr/>
          <p:nvPr/>
        </p:nvSpPr>
        <p:spPr>
          <a:xfrm>
            <a:off x="9525000" y="3783062"/>
            <a:ext cx="7928875" cy="3060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0696F4-B0FF-89C1-412B-6EC66FC12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39114"/>
              </p:ext>
            </p:extLst>
          </p:nvPr>
        </p:nvGraphicFramePr>
        <p:xfrm>
          <a:off x="1362635" y="4061012"/>
          <a:ext cx="7560722" cy="25818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60722">
                  <a:extLst>
                    <a:ext uri="{9D8B030D-6E8A-4147-A177-3AD203B41FA5}">
                      <a16:colId xmlns:a16="http://schemas.microsoft.com/office/drawing/2014/main" val="2839713005"/>
                    </a:ext>
                  </a:extLst>
                </a:gridCol>
              </a:tblGrid>
              <a:tr h="2581835">
                <a:tc>
                  <a:txBody>
                    <a:bodyPr/>
                    <a:lstStyle/>
                    <a:p>
                      <a:r>
                        <a:rPr lang="en-US" dirty="0"/>
                        <a:t>H           Client 1             12364           240          0        100        140     50     40    50</a:t>
                      </a:r>
                    </a:p>
                    <a:p>
                      <a:r>
                        <a:rPr lang="en-US" dirty="0"/>
                        <a:t>H           Client 2             45874           240          0        220         20        0     20      0</a:t>
                      </a:r>
                      <a:br>
                        <a:rPr lang="en-US" dirty="0"/>
                      </a:br>
                      <a:r>
                        <a:rPr lang="en-US" dirty="0"/>
                        <a:t>S            Client 3             13256           240          0        200         40        0      0     40 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507079"/>
                  </a:ext>
                </a:extLst>
              </a:tr>
            </a:tbl>
          </a:graphicData>
        </a:graphic>
      </p:graphicFrame>
      <p:sp>
        <p:nvSpPr>
          <p:cNvPr id="17" name="TextBox 8">
            <a:extLst>
              <a:ext uri="{FF2B5EF4-FFF2-40B4-BE49-F238E27FC236}">
                <a16:creationId xmlns:a16="http://schemas.microsoft.com/office/drawing/2014/main" id="{7B399F6F-D9DA-747B-2823-5EC10C584265}"/>
              </a:ext>
            </a:extLst>
          </p:cNvPr>
          <p:cNvSpPr txBox="1"/>
          <p:nvPr/>
        </p:nvSpPr>
        <p:spPr>
          <a:xfrm>
            <a:off x="4128472" y="5354170"/>
            <a:ext cx="1828800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i="1" u="none" strike="noStrik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Sample Data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D85D0D5-4232-532F-97FE-C2E23627F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21706"/>
              </p:ext>
            </p:extLst>
          </p:nvPr>
        </p:nvGraphicFramePr>
        <p:xfrm>
          <a:off x="9705389" y="3739847"/>
          <a:ext cx="7560722" cy="25818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60722">
                  <a:extLst>
                    <a:ext uri="{9D8B030D-6E8A-4147-A177-3AD203B41FA5}">
                      <a16:colId xmlns:a16="http://schemas.microsoft.com/office/drawing/2014/main" val="2839713005"/>
                    </a:ext>
                  </a:extLst>
                </a:gridCol>
              </a:tblGrid>
              <a:tr h="2581835">
                <a:tc>
                  <a:txBody>
                    <a:bodyPr/>
                    <a:lstStyle/>
                    <a:p>
                      <a:r>
                        <a:rPr lang="en-US" dirty="0"/>
                        <a:t>H        Client 1             12364        240      0       100        140     50        40      50</a:t>
                      </a:r>
                    </a:p>
                    <a:p>
                      <a:r>
                        <a:rPr lang="en-US" dirty="0"/>
                        <a:t>H        Client 2             45874        240      0       220         20        0        20        0</a:t>
                      </a:r>
                      <a:br>
                        <a:rPr lang="en-US" dirty="0"/>
                      </a:br>
                      <a:r>
                        <a:rPr lang="en-US" dirty="0"/>
                        <a:t>S         Client 3             13256        240      0       200         40        0         0       40 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507079"/>
                  </a:ext>
                </a:extLst>
              </a:tr>
            </a:tbl>
          </a:graphicData>
        </a:graphic>
      </p:graphicFrame>
      <p:sp>
        <p:nvSpPr>
          <p:cNvPr id="21" name="TextBox 8">
            <a:extLst>
              <a:ext uri="{FF2B5EF4-FFF2-40B4-BE49-F238E27FC236}">
                <a16:creationId xmlns:a16="http://schemas.microsoft.com/office/drawing/2014/main" id="{EAC9911B-5560-AFFE-6AE1-9675A9AE08E1}"/>
              </a:ext>
            </a:extLst>
          </p:cNvPr>
          <p:cNvSpPr txBox="1"/>
          <p:nvPr/>
        </p:nvSpPr>
        <p:spPr>
          <a:xfrm>
            <a:off x="12571350" y="5049972"/>
            <a:ext cx="1828800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i="1" u="none" strike="noStrik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Sample Data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61C8A434-B0C2-AC5E-B657-97204BE982AB}"/>
              </a:ext>
            </a:extLst>
          </p:cNvPr>
          <p:cNvSpPr txBox="1"/>
          <p:nvPr/>
        </p:nvSpPr>
        <p:spPr>
          <a:xfrm>
            <a:off x="11656949" y="5576635"/>
            <a:ext cx="3657601" cy="89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*IU – Initial Units</a:t>
            </a:r>
          </a:p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*PA – Prior Authorization Additional Units</a:t>
            </a:r>
            <a:endParaRPr lang="en-US" sz="1400" u="none" strike="noStrik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 Bold"/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0E53DF0C-3228-A702-C8D4-671E59D0BF2E}"/>
              </a:ext>
            </a:extLst>
          </p:cNvPr>
          <p:cNvSpPr txBox="1"/>
          <p:nvPr/>
        </p:nvSpPr>
        <p:spPr>
          <a:xfrm>
            <a:off x="3283253" y="5715021"/>
            <a:ext cx="3767875" cy="41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*PA – Prior Authorization Additional Units</a:t>
            </a:r>
            <a:endParaRPr lang="en-US" sz="1400" u="none" strike="noStrik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 Bold"/>
            </a:endParaRPr>
          </a:p>
        </p:txBody>
      </p:sp>
    </p:spTree>
    <p:extLst>
      <p:ext uri="{BB962C8B-B14F-4D97-AF65-F5344CB8AC3E}">
        <p14:creationId xmlns:p14="http://schemas.microsoft.com/office/powerpoint/2010/main" val="252298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6700" y="-228600"/>
            <a:ext cx="18821400" cy="10744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66399" y="1028700"/>
            <a:ext cx="6987001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IMPACT AND 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5924" y="2194922"/>
            <a:ext cx="7815676" cy="932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840"/>
              </a:lnSpc>
              <a:spcBef>
                <a:spcPct val="0"/>
              </a:spcBef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new database improves accuracy, transparency, and revenue protection across the organization.</a:t>
            </a:r>
            <a:endParaRPr lang="en-US" sz="2400" u="none" strike="noStrik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uce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90234EF-671E-1C94-D9D7-BD153CF1B218}"/>
              </a:ext>
            </a:extLst>
          </p:cNvPr>
          <p:cNvSpPr txBox="1"/>
          <p:nvPr/>
        </p:nvSpPr>
        <p:spPr>
          <a:xfrm>
            <a:off x="1181747" y="4576783"/>
            <a:ext cx="7295027" cy="2720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ct val="15000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Protects $5K+ monthly revenue previously at risk due to denials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Eliminates manual tracking of units and claim status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Improves compliance with authorization requirements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Creates an audit-ready trail for all billing data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Scales for future forms, reports, or additional services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FCA6714-8C67-E5E8-57B6-089C8BE2AD1E}"/>
              </a:ext>
            </a:extLst>
          </p:cNvPr>
          <p:cNvSpPr txBox="1"/>
          <p:nvPr/>
        </p:nvSpPr>
        <p:spPr>
          <a:xfrm>
            <a:off x="1162987" y="4044184"/>
            <a:ext cx="4833608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MEASURABLE BENEFITS: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B846C-860E-6404-0B4D-22BA3294A25F}"/>
              </a:ext>
            </a:extLst>
          </p:cNvPr>
          <p:cNvSpPr/>
          <p:nvPr/>
        </p:nvSpPr>
        <p:spPr>
          <a:xfrm>
            <a:off x="11125200" y="5524500"/>
            <a:ext cx="6172200" cy="228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C7DEE3-26C1-D53C-3058-485373624E26}"/>
              </a:ext>
            </a:extLst>
          </p:cNvPr>
          <p:cNvGrpSpPr/>
          <p:nvPr/>
        </p:nvGrpSpPr>
        <p:grpSpPr>
          <a:xfrm>
            <a:off x="9405470" y="1908002"/>
            <a:ext cx="8225449" cy="6105589"/>
            <a:chOff x="9405470" y="1908002"/>
            <a:chExt cx="8225449" cy="610558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C560F65-9134-E633-2739-3F0C50672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05470" y="1908002"/>
              <a:ext cx="8225449" cy="610558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C755A6-5501-54C6-611B-9C02B1368E97}"/>
                </a:ext>
              </a:extLst>
            </p:cNvPr>
            <p:cNvSpPr/>
            <p:nvPr/>
          </p:nvSpPr>
          <p:spPr>
            <a:xfrm>
              <a:off x="11430000" y="2324100"/>
              <a:ext cx="53340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496587"/>
                  </a:solidFill>
                </a:rPr>
                <a:t>Company Client Database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0CFE2F-C271-D101-1A52-D4920EE5C97A}"/>
                </a:ext>
              </a:extLst>
            </p:cNvPr>
            <p:cNvSpPr/>
            <p:nvPr/>
          </p:nvSpPr>
          <p:spPr>
            <a:xfrm>
              <a:off x="11544300" y="5569848"/>
              <a:ext cx="53340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2"/>
                  </a:solidFill>
                </a:rPr>
                <a:t>Select Billing Month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F872322-0AB4-110D-76A8-3F5ECE330D1F}"/>
                </a:ext>
              </a:extLst>
            </p:cNvPr>
            <p:cNvSpPr/>
            <p:nvPr/>
          </p:nvSpPr>
          <p:spPr>
            <a:xfrm>
              <a:off x="11976847" y="6063070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Jan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92F512F-9EB7-312A-F880-CE04040E3CE5}"/>
                </a:ext>
              </a:extLst>
            </p:cNvPr>
            <p:cNvSpPr/>
            <p:nvPr/>
          </p:nvSpPr>
          <p:spPr>
            <a:xfrm>
              <a:off x="14484911" y="6060992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Mar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895364C-68BA-5D5C-055F-95949B61E376}"/>
                </a:ext>
              </a:extLst>
            </p:cNvPr>
            <p:cNvSpPr/>
            <p:nvPr/>
          </p:nvSpPr>
          <p:spPr>
            <a:xfrm>
              <a:off x="15748747" y="6052820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DCCEFD6-42A3-C36F-F9D0-F15471ED6459}"/>
                </a:ext>
              </a:extLst>
            </p:cNvPr>
            <p:cNvSpPr/>
            <p:nvPr/>
          </p:nvSpPr>
          <p:spPr>
            <a:xfrm>
              <a:off x="13232841" y="6072396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Feb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933FB98-26FC-80A7-2B36-E1C8E94FF340}"/>
                </a:ext>
              </a:extLst>
            </p:cNvPr>
            <p:cNvSpPr/>
            <p:nvPr/>
          </p:nvSpPr>
          <p:spPr>
            <a:xfrm>
              <a:off x="11976847" y="6586637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May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D06DF12-DE91-C213-7279-A9C9677DFED9}"/>
                </a:ext>
              </a:extLst>
            </p:cNvPr>
            <p:cNvSpPr/>
            <p:nvPr/>
          </p:nvSpPr>
          <p:spPr>
            <a:xfrm>
              <a:off x="14458577" y="6581512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Jul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CB72790-2896-2EB2-0DE4-A36AF476FD4D}"/>
                </a:ext>
              </a:extLst>
            </p:cNvPr>
            <p:cNvSpPr/>
            <p:nvPr/>
          </p:nvSpPr>
          <p:spPr>
            <a:xfrm>
              <a:off x="15733264" y="6581512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Aug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475C1A8-EBA5-FAE6-797F-D572434A0DE7}"/>
                </a:ext>
              </a:extLst>
            </p:cNvPr>
            <p:cNvSpPr/>
            <p:nvPr/>
          </p:nvSpPr>
          <p:spPr>
            <a:xfrm>
              <a:off x="13228917" y="6586637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Jun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2FE5515-6887-789F-6EF9-0F185F9612D3}"/>
                </a:ext>
              </a:extLst>
            </p:cNvPr>
            <p:cNvSpPr/>
            <p:nvPr/>
          </p:nvSpPr>
          <p:spPr>
            <a:xfrm>
              <a:off x="11943577" y="7123574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Sep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98C9641-F0B2-2F32-3B61-CC0B14DD541C}"/>
                </a:ext>
              </a:extLst>
            </p:cNvPr>
            <p:cNvSpPr/>
            <p:nvPr/>
          </p:nvSpPr>
          <p:spPr>
            <a:xfrm>
              <a:off x="14439051" y="7123574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Nov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0CBC967-D466-CC3C-6989-064529FA63F7}"/>
                </a:ext>
              </a:extLst>
            </p:cNvPr>
            <p:cNvSpPr/>
            <p:nvPr/>
          </p:nvSpPr>
          <p:spPr>
            <a:xfrm>
              <a:off x="15733264" y="7140504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C848A1A-36C4-6F40-1FBF-5E8BDC3F60EA}"/>
                </a:ext>
              </a:extLst>
            </p:cNvPr>
            <p:cNvSpPr/>
            <p:nvPr/>
          </p:nvSpPr>
          <p:spPr>
            <a:xfrm>
              <a:off x="13228917" y="7113719"/>
              <a:ext cx="762000" cy="381000"/>
            </a:xfrm>
            <a:prstGeom prst="roundRect">
              <a:avLst/>
            </a:prstGeom>
            <a:solidFill>
              <a:srgbClr val="567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Oct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FC4904-BC14-138A-E6F0-F0D6C1C6F908}"/>
                </a:ext>
              </a:extLst>
            </p:cNvPr>
            <p:cNvSpPr/>
            <p:nvPr/>
          </p:nvSpPr>
          <p:spPr>
            <a:xfrm>
              <a:off x="9677400" y="1943100"/>
              <a:ext cx="2133600" cy="251822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Medicaid Client Database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6098-51B9-75A9-6759-D3E9B653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0CAB4D-DD57-68EA-3590-7D01A4C5EA9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8A3FADB-8288-9A3B-8DCE-E530CCD89856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B4C7C0-2FE3-5DE9-167D-5C95676C03D1}"/>
              </a:ext>
            </a:extLst>
          </p:cNvPr>
          <p:cNvSpPr txBox="1"/>
          <p:nvPr/>
        </p:nvSpPr>
        <p:spPr>
          <a:xfrm>
            <a:off x="1164124" y="950440"/>
            <a:ext cx="10399168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8959"/>
              </a:lnSpc>
              <a:defRPr sz="44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TECHNICAL SIDE OF THINGS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556D62A-BC27-6C44-529D-8C3112C68993}"/>
              </a:ext>
            </a:extLst>
          </p:cNvPr>
          <p:cNvSpPr txBox="1"/>
          <p:nvPr/>
        </p:nvSpPr>
        <p:spPr>
          <a:xfrm>
            <a:off x="13671125" y="9142095"/>
            <a:ext cx="3450476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Individual Advocacy     9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570CB53-BC44-2EE0-DE6A-39B04E84FBB4}"/>
              </a:ext>
            </a:extLst>
          </p:cNvPr>
          <p:cNvSpPr txBox="1"/>
          <p:nvPr/>
        </p:nvSpPr>
        <p:spPr>
          <a:xfrm>
            <a:off x="1164124" y="7333026"/>
            <a:ext cx="6758401" cy="2720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ct val="15000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Select information from the ‘Clients’ and each monthly billing table is combined into one using SQL (Structured Query Language) . Queries were created for each billing month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Information from the two tables are joined on the client’s Medicaid number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C7018C6-E64B-A8C0-0626-4F946DD80F16}"/>
              </a:ext>
            </a:extLst>
          </p:cNvPr>
          <p:cNvSpPr txBox="1"/>
          <p:nvPr/>
        </p:nvSpPr>
        <p:spPr>
          <a:xfrm>
            <a:off x="1164124" y="6807732"/>
            <a:ext cx="6782284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HOW IS THE INFORMATION COMBINED?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C81ED-FC47-3FC7-4070-060B67BBF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79"/>
          <a:stretch>
            <a:fillRect/>
          </a:stretch>
        </p:blipFill>
        <p:spPr>
          <a:xfrm>
            <a:off x="1189145" y="2230043"/>
            <a:ext cx="6758401" cy="4288348"/>
          </a:xfrm>
          <a:prstGeom prst="rect">
            <a:avLst/>
          </a:prstGeom>
        </p:spPr>
      </p:pic>
      <p:sp>
        <p:nvSpPr>
          <p:cNvPr id="16" name="TextBox 8">
            <a:extLst>
              <a:ext uri="{FF2B5EF4-FFF2-40B4-BE49-F238E27FC236}">
                <a16:creationId xmlns:a16="http://schemas.microsoft.com/office/drawing/2014/main" id="{4BA896BE-9E96-F2BE-27ED-72AF7E868ACB}"/>
              </a:ext>
            </a:extLst>
          </p:cNvPr>
          <p:cNvSpPr txBox="1"/>
          <p:nvPr/>
        </p:nvSpPr>
        <p:spPr>
          <a:xfrm>
            <a:off x="10363200" y="2007578"/>
            <a:ext cx="6758400" cy="44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 Bold"/>
              </a:rPr>
              <a:t>OTHER TECHNICAL TID-BITS: 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F2CB7DA3-D219-3C4D-CEF5-1FD4EB6F1C85}"/>
              </a:ext>
            </a:extLst>
          </p:cNvPr>
          <p:cNvSpPr txBox="1"/>
          <p:nvPr/>
        </p:nvSpPr>
        <p:spPr>
          <a:xfrm>
            <a:off x="10341593" y="2498344"/>
            <a:ext cx="6758401" cy="4875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2pPr marL="388620" lvl="1" indent="-194310">
              <a:lnSpc>
                <a:spcPct val="150000"/>
              </a:lnSpc>
              <a:buFont typeface="Arial"/>
              <a:buChar char="•"/>
              <a:defRPr>
                <a:solidFill>
                  <a:srgbClr val="000000"/>
                </a:solidFill>
                <a:latin typeface="Open Sauce"/>
                <a:ea typeface="Open Sauce"/>
                <a:cs typeface="Open Sauce"/>
              </a:defRPr>
            </a:lvl2pPr>
          </a:lstStyle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The Database has been split into a ‘Front-End’ and a ‘Back-End;</a:t>
            </a:r>
          </a:p>
          <a:p>
            <a:pPr lvl="2"/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Front-End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 – contains the forms and the reports</a:t>
            </a:r>
          </a:p>
          <a:p>
            <a:pPr lvl="2"/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Back-End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 – contains the tables and queries and is not accessible to unauthorized individuals maintain the database’s integrity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Specialized reports can be created as needed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All data tables can be exported into either CSV or Excel files and used for visualizations</a:t>
            </a:r>
          </a:p>
          <a:p>
            <a:pPr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uce"/>
              </a:rPr>
              <a:t>Update Queries are incorporated to ensure that any new clients appears in the appropriate billing month’s data entry table(s) and reports</a:t>
            </a:r>
          </a:p>
        </p:txBody>
      </p:sp>
    </p:spTree>
    <p:extLst>
      <p:ext uri="{BB962C8B-B14F-4D97-AF65-F5344CB8AC3E}">
        <p14:creationId xmlns:p14="http://schemas.microsoft.com/office/powerpoint/2010/main" val="351033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3E0B-675E-C927-2D19-4A0409AC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2C27D9-0DEC-C4E9-D7B7-F4BF50B8CD46}"/>
              </a:ext>
            </a:extLst>
          </p:cNvPr>
          <p:cNvSpPr/>
          <p:nvPr/>
        </p:nvSpPr>
        <p:spPr>
          <a:xfrm>
            <a:off x="-179903" y="-13519"/>
            <a:ext cx="18460528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075AA2E-288D-5414-64E8-ADD9230AA5C6}"/>
              </a:ext>
            </a:extLst>
          </p:cNvPr>
          <p:cNvSpPr txBox="1"/>
          <p:nvPr/>
        </p:nvSpPr>
        <p:spPr>
          <a:xfrm>
            <a:off x="4419600" y="1281653"/>
            <a:ext cx="9448800" cy="1342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14"/>
              </a:lnSpc>
            </a:pPr>
            <a:r>
              <a:rPr lang="en-US" sz="5400" b="1" dirty="0">
                <a:solidFill>
                  <a:srgbClr val="000000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  <a:sym typeface="Open Sans"/>
              </a:rPr>
              <a:t>INDIVIDUAL ADVOCACY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4FC86E-B7EC-E42E-BA52-1C848A880DE7}"/>
              </a:ext>
            </a:extLst>
          </p:cNvPr>
          <p:cNvSpPr txBox="1"/>
          <p:nvPr/>
        </p:nvSpPr>
        <p:spPr>
          <a:xfrm>
            <a:off x="2089203" y="3253696"/>
            <a:ext cx="13922315" cy="419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IMPROVING CLIENT DATA MANAGEMENT &amp; MEDICAID CLAIM EFFICIENCY</a:t>
            </a:r>
            <a:endParaRPr lang="en-US" sz="2800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  <a:sym typeface="Open San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D3FC0BB-25A8-289B-16AF-676085298F6F}"/>
              </a:ext>
            </a:extLst>
          </p:cNvPr>
          <p:cNvSpPr txBox="1"/>
          <p:nvPr/>
        </p:nvSpPr>
        <p:spPr>
          <a:xfrm>
            <a:off x="7316323" y="8333289"/>
            <a:ext cx="3606898" cy="499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>
                    <a:alpha val="49804"/>
                  </a:srgbClr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  <a:sym typeface="Open Sans"/>
              </a:rPr>
              <a:t>Ju-Lynda Vaughn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B86DE9-FECE-58E0-5274-46D5755CFA87}"/>
              </a:ext>
            </a:extLst>
          </p:cNvPr>
          <p:cNvCxnSpPr>
            <a:cxnSpLocks/>
          </p:cNvCxnSpPr>
          <p:nvPr/>
        </p:nvCxnSpPr>
        <p:spPr>
          <a:xfrm>
            <a:off x="2622430" y="2933700"/>
            <a:ext cx="129223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4">
            <a:extLst>
              <a:ext uri="{FF2B5EF4-FFF2-40B4-BE49-F238E27FC236}">
                <a16:creationId xmlns:a16="http://schemas.microsoft.com/office/drawing/2014/main" id="{FA32398B-36B8-D9B5-9A00-BB66776F162E}"/>
              </a:ext>
            </a:extLst>
          </p:cNvPr>
          <p:cNvSpPr txBox="1"/>
          <p:nvPr/>
        </p:nvSpPr>
        <p:spPr>
          <a:xfrm>
            <a:off x="2089202" y="3940578"/>
            <a:ext cx="13922315" cy="419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  <a:sym typeface="Open Sans"/>
              </a:rPr>
              <a:t>New Access Database Overview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172674D-D878-F9AA-7F56-6DE10C4B5B09}"/>
              </a:ext>
            </a:extLst>
          </p:cNvPr>
          <p:cNvSpPr txBox="1"/>
          <p:nvPr/>
        </p:nvSpPr>
        <p:spPr>
          <a:xfrm>
            <a:off x="5784901" y="6105010"/>
            <a:ext cx="6530915" cy="501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6000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  <a:sym typeface="Open Sans"/>
              </a:rPr>
              <a:t>Thank You!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207DF-C1A3-5323-F2BD-3512C6104C54}"/>
              </a:ext>
            </a:extLst>
          </p:cNvPr>
          <p:cNvSpPr txBox="1"/>
          <p:nvPr/>
        </p:nvSpPr>
        <p:spPr>
          <a:xfrm>
            <a:off x="6317751" y="8791129"/>
            <a:ext cx="5600160" cy="491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dirty="0">
                <a:solidFill>
                  <a:srgbClr val="000000">
                    <a:alpha val="49804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Revenue Cycle / Business Analyst</a:t>
            </a:r>
          </a:p>
        </p:txBody>
      </p:sp>
    </p:spTree>
    <p:extLst>
      <p:ext uri="{BB962C8B-B14F-4D97-AF65-F5344CB8AC3E}">
        <p14:creationId xmlns:p14="http://schemas.microsoft.com/office/powerpoint/2010/main" val="78157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919</Words>
  <Application>Microsoft Office PowerPoint</Application>
  <PresentationFormat>Custom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Open Sauce</vt:lpstr>
      <vt:lpstr>Calibri</vt:lpstr>
      <vt:lpstr>Open Sauce Bold</vt:lpstr>
      <vt:lpstr>Segoe UI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JuLynda</dc:creator>
  <cp:lastModifiedBy>Ju-Lynda Vaughn</cp:lastModifiedBy>
  <cp:revision>26</cp:revision>
  <dcterms:created xsi:type="dcterms:W3CDTF">2006-08-16T00:00:00Z</dcterms:created>
  <dcterms:modified xsi:type="dcterms:W3CDTF">2026-09-02T15:34:45Z</dcterms:modified>
  <dc:identifier>DAG3kVJGXEo</dc:identifier>
</cp:coreProperties>
</file>